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Lineal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Analítica Predictiva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Alberto Ramírez García, M.Eng.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Ecuación del Modelo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del modelo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459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6459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 (lo que predecimos)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9659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(valor base cuando X = 0)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X₁...Xⱼ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2860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independientes (predictores)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06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β₁...βⱼ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 regresión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260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9260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 de error (variabilidad no explicada)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Precio de Casa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16916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Tamaño (m²)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075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Ubicación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459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Antigüedad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8437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🛏️  Número de habitaciones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β₀ + β₁X₁ + β₂X₂ + ... + βⱼXⱼ + ε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 y Multicolinealidad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 relación lineal entre variables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-1 a +1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3566160" cy="34747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0.1  →  Sin correlación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3566160" cy="34747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5786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– 0.3  →  Poca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62656"/>
            <a:ext cx="3566160" cy="3474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– 0.5  →  Media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3566160" cy="347472"/>
          </a:xfrm>
          <a:prstGeom prst="rect">
            <a:avLst/>
          </a:prstGeom>
          <a:solidFill>
            <a:srgbClr val="A6A6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3467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0.7  →  Alta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3566160" cy="347472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– 1.0  →  Muy alta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Multicolinealidad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independientes altamente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correlacionadas entre sí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(Factor de Inflación de Varianza)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VIF = 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correlación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1 &lt; VIF &lt; 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364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 (aceptable)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VIF &gt; 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3913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Multicolinealidad severa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Varianza (ANOVA)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la significancia global del modelo descomponiendo la variabilidad total.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Descomposición de Variabilidad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11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explicada por el modelo (MSR)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377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 no explicada / residual (MSE)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9377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F-test e Hipótesis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β₁ = β₂ = ... = βⱼ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(modelo no es útil)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Al menos un βⱼ ≠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(modelo es significativo)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29000"/>
            <a:ext cx="393192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4290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MSR / MSE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93776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p-valor = 0.000 &lt; 0.05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Se rechaza H₀ → El modelo ES significativo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Significancia de Variables Individuales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t para Coeficientes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 = 0 (variable no significativa)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β ≠ 0 (variable significativa)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56616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148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β / SE(β)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(95%): β ± t(0.025) × SE(β)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Decisión (α = 0.05)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160020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07492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p-valor &lt; 0.05 → Variable SIGNIFICATIVA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24028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07492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p-valor &gt; 0.05 → Variable NO significativa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 Precio = β₀ + β₁(Área) + β₂(Habitaciones)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Significativa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🚫 No significativa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y Selección de Variables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Completo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Incluye todas las variables disponibles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Puede tener variables no significativas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Riesgo de sobreajuste (overfitting)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Mayor complejidad de interpretación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691640"/>
            <a:ext cx="822960" cy="82296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6052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Seleccionado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Solo variables significativas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865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Principio de parsimonia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Mejor capacidad de generalización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Más fácil de interpretar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82296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Selección de Variables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8862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187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variables no significativas una a una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379476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88620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832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794760" y="38862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383280" y="4187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variables significativas una a una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79476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88620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629400" y="38862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Stepwise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217920" y="4187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ambos: agregar y eliminar en cada paso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Evaluación: R² y RMSE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755648"/>
            <a:ext cx="3566160" cy="27432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Proporción de varianza explicada por el modelo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Rango: 0 a 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Más cercano a 1 = mejor explicación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356616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85% de la variación se explica por el modelo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93776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234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Error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Cuadrático Medio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755648"/>
            <a:ext cx="3566160" cy="27432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93776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Magnitud promedio de errores de predicción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 unidades de la variable dependiente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RMSE menor = mejores predicciones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880360"/>
            <a:ext cx="356616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se desvían en promedio $5,000 del real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métricas son complementarias para evaluar el rendimiento del modelo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define a un "Buen" Modelo?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Significancia Estadística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F-test con p-valor &lt; 0.05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Variables individuales significativas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207008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207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Supuestos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Linealidad de relaciones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874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Independencia de errores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Homocedasticidad y normalidad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852928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Interpretabilidad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Coeficientes con sentido lógico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520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Resultados comprensibles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Relevancia para el negocio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2852928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2852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Generalización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Evita el sobreajuste (overfitting)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37760" y="3520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Funciona con datos nuevos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Validación cruzada exitosa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" y="43708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"buen" modelo no se define solo por R² alto o RMSE bajo, sino por el cumplimiento integral de estos criterios.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fundamental para analistas de datos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predecir y comprender relaciones complejas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riguroso: análisis exploratorio → construcción → evaluación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variables crucial para resultados confiables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como R² y RMSE guían hacia modelos robustos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Práctica en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  |  Modelos de Analítica Predictiva  |  Jorge A. Ramírez García, M.Eng.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statsmodels.api as sm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DE0"/>
          </a:solidFill>
          <a:ln w="12700">
            <a:solidFill>
              <a:srgbClr val="FFF500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Esenciales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5727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statsmodels — Análisis estadístico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 — Machine Learning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 — Manipulación de datos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matplotlib — Visualización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Trabajo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24128" y="3273552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correlación y limpieza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3611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48840" y="320040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15768" y="3273552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15768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del modelo de regresión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3611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0480" y="320040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07408" y="3273552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07408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pruebas t, R² y RMSE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611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32120" y="320040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99048" y="3273552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99048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variables no significativas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995160" y="3611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23760" y="320040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50800" dist="25400" dir="189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90688" y="3273552"/>
            <a:ext cx="320040" cy="320040"/>
          </a:xfrm>
          <a:prstGeom prst="ellipse">
            <a:avLst/>
          </a:prstGeom>
          <a:solidFill>
            <a:srgbClr val="FFF5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90688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39136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supuestos y generalización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617720"/>
            <a:ext cx="1097280" cy="228600"/>
          </a:xfrm>
          <a:prstGeom prst="rect">
            <a:avLst/>
          </a:prstGeom>
          <a:solidFill>
            <a:srgbClr val="FFF50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7200" y="4617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2026-09-09T23:55:15Z</dcterms:created>
  <dcterms:modified xsi:type="dcterms:W3CDTF">2026-09-09T23:55:15Z</dcterms:modified>
</cp:coreProperties>
</file>